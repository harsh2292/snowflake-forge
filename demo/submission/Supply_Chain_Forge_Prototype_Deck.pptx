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2" r:id="rId16"/>
    <p:sldId id="260" r:id="rId10"/>
    <p:sldId id="263" r:id="rId17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b="1" i="0" lang="en-GB" sz="1343" u="none" cap="none" strike="noStrike">
                <a:solidFill>
                  <a:srgbClr val="0E2A5C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Supply Chain Forge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b="1" i="0" lang="en-GB" sz="1343" u="none" cap="none" strike="noStrike">
                <a:solidFill>
                  <a:srgbClr val="0E2A5C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Supply Chain Ontology and Governed Conversational Analytics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b="1" i="0" lang="en-GB" sz="1343" u="none" cap="none" strike="noStrike">
                <a:solidFill>
                  <a:srgbClr val="0E2A5C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Harsh Patel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b="1" i="0" lang="en-GB" sz="1343" u="none" cap="none" strike="noStrike">
                <a:solidFill>
                  <a:srgbClr val="0E2A5C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itle"/>
          <p:cNvSpPr txBox="1"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Arial"/>
              </a:rPr>
              <a:t>Problem brief: four systems, four versions of the truth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11887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5FD6"/>
                </a:solidFill>
                <a:latin typeface="Arial"/>
              </a:rPr>
              <a:t>The business problem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1408176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Arial"/>
              </a:rPr>
              <a:t>Supply chain data sits in four systems (ERP, WMS, TMS, SRM) that name and date things their own way. Ask “What is our on-time delivery rate?” and each team gets a different answer.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121408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5FD6"/>
                </a:solidFill>
                <a:latin typeface="Arial"/>
              </a:rPr>
              <a:t>Who it is for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2340864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Arial"/>
              </a:rPr>
              <a:t>Production planners, procurement leads (buyers) and logistics coordinators, plus the leaders who need one number they can act 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2889504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5FD6"/>
                </a:solidFill>
                <a:latin typeface="Arial"/>
              </a:rPr>
              <a:t>Pain today → with Supply Chain Forge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3108960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Arial"/>
              </a:rPr>
              <a:t>Teams reconcile spreadsheets and argue about whose number is right. Now every metric is defined once in a Snowflake semantic view, and people, dashboards and the AI agent all read that one definition.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3822191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5FD6"/>
                </a:solidFill>
                <a:latin typeface="Arial"/>
              </a:rPr>
              <a:t>Industry context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4041648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Arial"/>
              </a:rPr>
              <a:t>Manufacturing and distribution: 12 plants in APAC, EMEA and AMER, 150 suppliers, 1,200 parts, ~725K orders and ~780K shipments over 10 years, with SAP-style source tables and real-world defects.</a:t>
            </a:r>
          </a:p>
        </p:txBody>
      </p:sp>
      <p:sp>
        <p:nvSpPr>
          <p:cNvPr id="79" name="Stat card"/>
          <p:cNvSpPr/>
          <p:nvPr/>
        </p:nvSpPr>
        <p:spPr>
          <a:xfrm>
            <a:off x="5806440" y="1188720"/>
            <a:ext cx="2926080" cy="3520440"/>
          </a:xfrm>
          <a:prstGeom prst="roundRect">
            <a:avLst>
              <a:gd name="adj" fmla="val 375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Arial"/>
              </a:rPr>
              <a:t>Leadership asks: “What is our on-time delivery rate?”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35040" y="1874519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Arial"/>
              </a:rPr>
              <a:t>Planning says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20574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6B7280"/>
                </a:solidFill>
                <a:latin typeface="Arial"/>
              </a:rPr>
              <a:t>68.2%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0" y="25603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82"/>
                </a:solidFill>
                <a:latin typeface="Arial"/>
              </a:rPr>
              <a:t>using the ERP order date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28803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Arial"/>
              </a:rPr>
              <a:t>Logistics says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30632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5FD6"/>
                </a:solidFill>
                <a:latin typeface="Arial"/>
              </a:rPr>
              <a:t>87.5%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0" y="356616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B82"/>
                </a:solidFill>
                <a:latin typeface="Arial"/>
              </a:rPr>
              <a:t>using the carrier’s promised date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34155"/>
                </a:solidFill>
                <a:latin typeface="Arial"/>
              </a:rPr>
              <a:t>Same shipments, 19.3 points apart.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34155"/>
                </a:solidFill>
                <a:latin typeface="Arial"/>
              </a:rPr>
              <a:t>Supply Chain Forge makes 87.5% the one governed answer, for every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itle"/>
          <p:cNvSpPr txBox="1"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Arial"/>
              </a:rPr>
              <a:t>Architecture: one governed layer, built and run in Snowflake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109728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B6B82"/>
                </a:solidFill>
                <a:latin typeface="Arial"/>
              </a:rPr>
              <a:t>DATA SOURCES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65960" y="10972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B6B82"/>
                </a:solidFill>
                <a:latin typeface="Arial"/>
              </a:rPr>
              <a:t>CLEANED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11880" y="10972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B6B82"/>
                </a:solidFill>
                <a:latin typeface="Arial"/>
              </a:rPr>
              <a:t>GOVERNED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1097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B6B82"/>
                </a:solidFill>
                <a:latin typeface="Arial"/>
              </a:rPr>
              <a:t>ONTOLOGY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0" y="10972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B6B82"/>
                </a:solidFill>
                <a:latin typeface="Arial"/>
              </a:rPr>
              <a:t>CONSUMERS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1325880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ERP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orders, customers, FX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1480" y="1874519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WMS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inventory, usage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1480" y="2423160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TMS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shipments, carriers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1480" y="2971800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SRM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suppliers, parts, contracts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35661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B6B82"/>
                </a:solidFill>
                <a:latin typeface="Arial"/>
              </a:rPr>
              <a:t>Structured tables, SAP-style names, 19 kinds of defects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965960" y="1463040"/>
            <a:ext cx="1417320" cy="1783080"/>
          </a:xfrm>
          <a:prstGeom prst="roundRect">
            <a:avLst>
              <a:gd name="adj" fmla="val 7741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CONFORMED</a:t>
            </a:r>
          </a:p>
          <a:p>
            <a:pPr algn="ctr"/>
            <a:r>
              <a:rPr sz="800" b="0">
                <a:solidFill>
                  <a:srgbClr val="334155"/>
                </a:solidFill>
                <a:latin typeface="Arial"/>
              </a:rPr>
              <a:t>10 incremental dynamic tables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dedupe, code maps, FX to USD, test and orphan removal, dq_flags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11880" y="1463040"/>
            <a:ext cx="1417320" cy="1783080"/>
          </a:xfrm>
          <a:prstGeom prst="roundRect">
            <a:avLst>
              <a:gd name="adj" fmla="val 7741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GOVERNED</a:t>
            </a:r>
          </a:p>
          <a:p>
            <a:pPr algn="ctr"/>
            <a:r>
              <a:rPr sz="800" b="0">
                <a:solidFill>
                  <a:srgbClr val="334155"/>
                </a:solidFill>
                <a:latin typeface="Arial"/>
              </a:rPr>
              <a:t>9 business-named views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masking policies per role, sensitivity tags, persona procedures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57800" y="1463040"/>
            <a:ext cx="1463040" cy="1783080"/>
          </a:xfrm>
          <a:prstGeom prst="roundRect">
            <a:avLst>
              <a:gd name="adj" fmla="val 7500"/>
            </a:avLst>
          </a:prstGeom>
          <a:solidFill>
            <a:srgbClr val="1A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SUPPLY_CHAIN_SV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semantic view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Arial"/>
              </a:rPr>
              <a:t>10 entities, 12 relationships, 4 canonical + 15 metrics, 14 verified queries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737360" y="2354580"/>
            <a:ext cx="228600" cy="0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383280" y="2354580"/>
            <a:ext cx="228600" cy="0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29200" y="2354580"/>
            <a:ext cx="228600" cy="0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6949440" y="1463040"/>
            <a:ext cx="1783080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1220"/>
                </a:solidFill>
                <a:latin typeface="Arial"/>
              </a:rPr>
              <a:t>Cortex Agent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Analyst + data_health tool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6720840" y="1719072"/>
            <a:ext cx="228600" cy="635508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6949440" y="2084832"/>
            <a:ext cx="1783080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1220"/>
                </a:solidFill>
                <a:latin typeface="Arial"/>
              </a:rPr>
              <a:t>Streamlit app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router: instant (~1 s) or agent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6720840" y="2340864"/>
            <a:ext cx="228600" cy="13716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6949440" y="2706624"/>
            <a:ext cx="1783080" cy="512064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1220"/>
                </a:solidFill>
                <a:latin typeface="Arial"/>
              </a:rPr>
              <a:t>3 personas</a:t>
            </a:r>
          </a:p>
          <a:p>
            <a:pPr algn="ctr"/>
            <a:r>
              <a:rPr sz="750" b="0">
                <a:solidFill>
                  <a:srgbClr val="5B6B82"/>
                </a:solidFill>
                <a:latin typeface="Arial"/>
              </a:rPr>
              <a:t>same number, different masking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20840" y="2354580"/>
            <a:ext cx="228600" cy="608076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1965960" y="3383280"/>
            <a:ext cx="47548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5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0B1220"/>
                </a:solidFill>
                <a:latin typeface="Arial"/>
              </a:rPr>
              <a:t>77 Data Metric Functions + SP_DATA_HEALTH</a:t>
            </a:r>
            <a:r>
              <a:rPr sz="800" b="0">
                <a:solidFill>
                  <a:srgbClr val="5B6B82"/>
                </a:solidFill>
                <a:latin typeface="Arial"/>
              </a:rPr>
              <a:t>  check every layer for freshness and defects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49440" y="342900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B6B82"/>
                </a:solidFill>
                <a:latin typeface="Arial"/>
              </a:rPr>
              <a:t>Input: plain-English questions (unstructured)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" y="39319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5B6B82"/>
                </a:solidFill>
                <a:latin typeface="Arial"/>
              </a:rPr>
              <a:t>BUILT WITH COCO CLI SKILLS, EACH OWNING ONE LAYER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1480" y="4133087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sql-author</a:t>
            </a:r>
          </a:p>
          <a:p>
            <a:pPr algn="ctr"/>
            <a:r>
              <a:rPr sz="700" b="0">
                <a:solidFill>
                  <a:srgbClr val="E3ECFB"/>
                </a:solidFill>
                <a:latin typeface="Arial"/>
              </a:rPr>
              <a:t>schemas, DDL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91639" y="4361688"/>
            <a:ext cx="128016" cy="0"/>
          </a:xfrm>
          <a:prstGeom prst="line">
            <a:avLst/>
          </a:prstGeom>
          <a:ln w="127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819656" y="4133087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dynamic-tables</a:t>
            </a:r>
          </a:p>
          <a:p>
            <a:pPr algn="ctr"/>
            <a:r>
              <a:rPr sz="700" b="0">
                <a:solidFill>
                  <a:srgbClr val="E3ECFB"/>
                </a:solidFill>
                <a:latin typeface="Arial"/>
              </a:rPr>
              <a:t>CONFORMED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099815" y="4361688"/>
            <a:ext cx="128017" cy="0"/>
          </a:xfrm>
          <a:prstGeom prst="line">
            <a:avLst/>
          </a:prstGeom>
          <a:ln w="127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3227832" y="4133087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data-governance</a:t>
            </a:r>
          </a:p>
          <a:p>
            <a:pPr algn="ctr"/>
            <a:r>
              <a:rPr sz="700" b="0">
                <a:solidFill>
                  <a:srgbClr val="E3ECFB"/>
                </a:solidFill>
                <a:latin typeface="Arial"/>
              </a:rPr>
              <a:t>masking, tags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507992" y="4361688"/>
            <a:ext cx="128015" cy="0"/>
          </a:xfrm>
          <a:prstGeom prst="line">
            <a:avLst/>
          </a:prstGeom>
          <a:ln w="127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4636008" y="4133087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agent-studio</a:t>
            </a:r>
          </a:p>
          <a:p>
            <a:pPr algn="ctr"/>
            <a:r>
              <a:rPr sz="700" b="0">
                <a:solidFill>
                  <a:srgbClr val="E3ECFB"/>
                </a:solidFill>
                <a:latin typeface="Arial"/>
              </a:rPr>
              <a:t>semantic view, agent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916168" y="4361688"/>
            <a:ext cx="128016" cy="0"/>
          </a:xfrm>
          <a:prstGeom prst="line">
            <a:avLst/>
          </a:prstGeom>
          <a:ln w="127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6044184" y="4133087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data-quality</a:t>
            </a:r>
          </a:p>
          <a:p>
            <a:pPr algn="ctr"/>
            <a:r>
              <a:rPr sz="700" b="0">
                <a:solidFill>
                  <a:srgbClr val="E3ECFB"/>
                </a:solidFill>
                <a:latin typeface="Arial"/>
              </a:rPr>
              <a:t>DMFs, health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324344" y="4361688"/>
            <a:ext cx="128016" cy="0"/>
          </a:xfrm>
          <a:prstGeom prst="line">
            <a:avLst/>
          </a:prstGeom>
          <a:ln w="127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7452360" y="4133087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lineage</a:t>
            </a:r>
          </a:p>
          <a:p>
            <a:pPr algn="ctr"/>
            <a:r>
              <a:rPr sz="700" b="0">
                <a:solidFill>
                  <a:srgbClr val="E3ECFB"/>
                </a:solidFill>
                <a:latin typeface="Arial"/>
              </a:rPr>
              <a:t>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itle"/>
          <p:cNvSpPr txBox="1"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Arial"/>
              </a:rPr>
              <a:t>The working prototype: live on Snowflake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1115568"/>
            <a:ext cx="2606040" cy="713232"/>
          </a:xfrm>
          <a:prstGeom prst="roundRect">
            <a:avLst>
              <a:gd name="adj" fmla="val 15384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A5FD6"/>
                </a:solidFill>
                <a:latin typeface="Arial"/>
              </a:rPr>
              <a:t>Input</a:t>
            </a:r>
          </a:p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A plain-English question, e.g. “What is on-time delivery by region?”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017520" y="1472184"/>
            <a:ext cx="210312" cy="0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3227832" y="1115568"/>
            <a:ext cx="2606040" cy="713232"/>
          </a:xfrm>
          <a:prstGeom prst="roundRect">
            <a:avLst>
              <a:gd name="adj" fmla="val 15384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A5FD6"/>
                </a:solidFill>
                <a:latin typeface="Arial"/>
              </a:rPr>
              <a:t>Processing</a:t>
            </a:r>
          </a:p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The router runs governed semantic-view SQL or asks the Cortex Agent; masking applies per role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833872" y="1472184"/>
            <a:ext cx="210312" cy="0"/>
          </a:xfrm>
          <a:prstGeom prst="line">
            <a:avLst/>
          </a:prstGeom>
          <a:ln w="15875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6044184" y="1115568"/>
            <a:ext cx="2606040" cy="713232"/>
          </a:xfrm>
          <a:prstGeom prst="roundRect">
            <a:avLst>
              <a:gd name="adj" fmla="val 15384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A5FD6"/>
                </a:solidFill>
                <a:latin typeface="Arial"/>
              </a:rPr>
              <a:t>Output</a:t>
            </a:r>
          </a:p>
          <a:p>
            <a:pPr algn="l"/>
            <a:r>
              <a:rPr sz="850" b="0">
                <a:solidFill>
                  <a:srgbClr val="334155"/>
                </a:solidFill>
                <a:latin typeface="Arial"/>
              </a:rPr>
              <a:t>A governed answer with its chart, SQL, metric definition and the path that answered</a:t>
            </a:r>
          </a:p>
        </p:txBody>
      </p:sp>
      <p:pic>
        <p:nvPicPr>
          <p:cNvPr id="86" name="Picture 85" descr="1-problem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1480" y="2057400"/>
            <a:ext cx="1965960" cy="1365250"/>
          </a:xfrm>
          <a:prstGeom prst="rect">
            <a:avLst/>
          </a:prstGeom>
          <a:ln w="9525">
            <a:solidFill>
              <a:srgbClr val="D5DFEE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411480" y="349300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220"/>
                </a:solidFill>
                <a:latin typeface="Arial"/>
              </a:rPr>
              <a:t>1  The problem: two numbers</a:t>
            </a:r>
          </a:p>
        </p:txBody>
      </p:sp>
      <p:pic>
        <p:nvPicPr>
          <p:cNvPr id="88" name="Picture 87" descr="3-same-for-everyon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532888" y="2057400"/>
            <a:ext cx="1965960" cy="1365250"/>
          </a:xfrm>
          <a:prstGeom prst="rect">
            <a:avLst/>
          </a:prstGeom>
          <a:ln w="9525">
            <a:solidFill>
              <a:srgbClr val="D5DFEE"/>
            </a:solidFill>
          </a:ln>
        </p:spPr>
      </p:pic>
      <p:sp>
        <p:nvSpPr>
          <p:cNvPr id="89" name="TextBox 88"/>
          <p:cNvSpPr txBox="1"/>
          <p:nvPr/>
        </p:nvSpPr>
        <p:spPr>
          <a:xfrm>
            <a:off x="2532888" y="349300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220"/>
                </a:solidFill>
                <a:latin typeface="Arial"/>
              </a:rPr>
              <a:t>2  Same for everyone</a:t>
            </a:r>
          </a:p>
        </p:txBody>
      </p:sp>
      <p:pic>
        <p:nvPicPr>
          <p:cNvPr id="90" name="Picture 89" descr="4-ask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54296" y="2057400"/>
            <a:ext cx="1965960" cy="1365250"/>
          </a:xfrm>
          <a:prstGeom prst="rect">
            <a:avLst/>
          </a:prstGeom>
          <a:ln w="9525">
            <a:solidFill>
              <a:srgbClr val="D5DFEE"/>
            </a:solidFill>
          </a:ln>
        </p:spPr>
      </p:pic>
      <p:sp>
        <p:nvSpPr>
          <p:cNvPr id="91" name="TextBox 90"/>
          <p:cNvSpPr txBox="1"/>
          <p:nvPr/>
        </p:nvSpPr>
        <p:spPr>
          <a:xfrm>
            <a:off x="4654296" y="349300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220"/>
                </a:solidFill>
                <a:latin typeface="Arial"/>
              </a:rPr>
              <a:t>3  Ask: instant governed answer</a:t>
            </a:r>
          </a:p>
        </p:txBody>
      </p:sp>
      <p:pic>
        <p:nvPicPr>
          <p:cNvPr id="92" name="Picture 91" descr="5-data-health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775703" y="2057400"/>
            <a:ext cx="1965960" cy="1365250"/>
          </a:xfrm>
          <a:prstGeom prst="rect">
            <a:avLst/>
          </a:prstGeom>
          <a:ln w="9525">
            <a:solidFill>
              <a:srgbClr val="D5DFEE"/>
            </a:solidFill>
          </a:ln>
        </p:spPr>
      </p:pic>
      <p:sp>
        <p:nvSpPr>
          <p:cNvPr id="93" name="TextBox 92"/>
          <p:cNvSpPr txBox="1"/>
          <p:nvPr/>
        </p:nvSpPr>
        <p:spPr>
          <a:xfrm>
            <a:off x="6775703" y="349300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220"/>
                </a:solidFill>
                <a:latin typeface="Arial"/>
              </a:rPr>
              <a:t>4  Data health: 35/35 passing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3977639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334155"/>
                </a:solidFill>
                <a:latin typeface="Arial"/>
              </a:rPr>
              <a:t>Try it: </a:t>
            </a:r>
            <a:r>
              <a:rPr sz="950" b="1" i="0">
                <a:solidFill>
                  <a:srgbClr val="1A5FD6"/>
                </a:solidFill>
                <a:latin typeface="Arial"/>
              </a:rPr>
              <a:t>supply-chain-forge.streamlit.app</a:t>
            </a:r>
            <a:r>
              <a:rPr sz="950" b="1" i="0">
                <a:solidFill>
                  <a:srgbClr val="334155"/>
                </a:solidFill>
                <a:latin typeface="Arial"/>
              </a:rPr>
              <a:t>   ·   Code and docs: </a:t>
            </a:r>
            <a:r>
              <a:rPr sz="950" b="0" i="0">
                <a:solidFill>
                  <a:srgbClr val="1A5FD6"/>
                </a:solidFill>
                <a:latin typeface="Arial"/>
              </a:rPr>
              <a:t>github.com/Harsh2292/snowflake-forge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rial"/>
              </a:rPr>
              <a:t>Public link on Streamlit Community Cloud, reading Snowflake live through a key-pair service user with a read-only role, rate limits and a Cortex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supply-chain-forge.streamlit.app   ·   github.com/Harsh2292/snowflake-forge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Arial"/>
              </a:rPr>
              <a:t>Impact: one trusted number, answered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5FD6"/>
                </a:solidFill>
                <a:latin typeface="Arial"/>
              </a:rPr>
              <a:t>0.000000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rial"/>
              </a:rPr>
              <a:t>difference between Planner, Buyer and Logistics on all 4 metrics (6 decimal places)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651760" y="12984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5FD6"/>
                </a:solidFill>
                <a:latin typeface="Arial"/>
              </a:rPr>
              <a:t>19.3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83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rial"/>
              </a:rPr>
              <a:t>of cross-team disagreement on on-time delivery removed (68.2% vs 87.5%)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0" y="12984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5FD6"/>
                </a:solidFill>
                <a:latin typeface="Arial"/>
              </a:rPr>
              <a:t>~1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83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rial"/>
              </a:rPr>
              <a:t>instant governed answers with no LLM call; agent answers ~12 s at p50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0" y="12984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5FD6"/>
                </a:solidFill>
                <a:latin typeface="Arial"/>
              </a:rPr>
              <a:t>28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83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rial"/>
              </a:rPr>
              <a:t>agent evaluation questions correct, incl. multi-part, Hindi and refusals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432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220"/>
                </a:solidFill>
                <a:latin typeface="Arial"/>
              </a:rPr>
              <a:t>Measurable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06324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One definition per metric replaces per-team SQL and spreadsheet reconciliation</a:t>
            </a:r>
          </a:p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93/93 data-quality self-checks pass; 77 DMFs watch every load</a:t>
            </a:r>
          </a:p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Masking enforced by Snowflake policies, not by the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27432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220"/>
                </a:solidFill>
                <a:latin typeface="Arial"/>
              </a:rPr>
              <a:t>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06324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Incremental dynamic tables and an XS warehouse handle ~6M source rows</a:t>
            </a:r>
          </a:p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Rebuilt from the repo into a new account with no hand fix, data byte-identical</a:t>
            </a:r>
          </a:p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A nightly task appends each new business day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7432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220"/>
                </a:solidFill>
                <a:latin typeface="Arial"/>
              </a:rPr>
              <a:t>Beyond the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306324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Swap the generator for real SAP and WMS connectors; layers stay the same</a:t>
            </a:r>
          </a:p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Add a metric or synonym to the semantic view: the agent and app pick it up</a:t>
            </a:r>
          </a:p>
          <a:p>
            <a:pPr algn="l">
              <a:spcAft>
                <a:spcPts val="700"/>
              </a:spcAft>
            </a:pPr>
            <a:r>
              <a:rPr sz="1050" b="1" i="0">
                <a:solidFill>
                  <a:srgbClr val="1A5FD6"/>
                </a:solidFill>
                <a:latin typeface="Arial"/>
              </a:rPr>
              <a:t>•  </a:t>
            </a:r>
            <a:r>
              <a:rPr sz="1050" b="0" i="0">
                <a:solidFill>
                  <a:srgbClr val="334155"/>
                </a:solidFill>
                <a:latin typeface="Arial"/>
              </a:rPr>
              <a:t>Same pattern fits finance, sales or HR data that disagree across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220"/>
                </a:solidFill>
                <a:latin typeface="Arial"/>
              </a:rPr>
              <a:t>How it was built: CoCo CLI plus a frozen contract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1188720"/>
            <a:ext cx="420624" cy="420624"/>
          </a:xfrm>
          <a:prstGeom prst="ellipse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704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Contract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0817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Arial"/>
              </a:rPr>
              <a:t>docs/CONTRACT.md fixes every object name, metric, valid pairing and masking rule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920240"/>
            <a:ext cx="420624" cy="420624"/>
          </a:xfrm>
          <a:prstGeom prst="ellipse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CoCo builds 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Arial"/>
              </a:rPr>
              <a:t>Schemas, CONFORMED dynamic tables, masking, semantic view, Cortex Agent, DMFs, cost caps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651760"/>
            <a:ext cx="420624" cy="420624"/>
          </a:xfrm>
          <a:prstGeom prst="ellipse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3347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Handoff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7121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Arial"/>
              </a:rPr>
              <a:t>Generator, quality and eval SQL written outside Snowflake; CoCo runs it and records each run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383280"/>
            <a:ext cx="420624" cy="420624"/>
          </a:xfrm>
          <a:prstGeom prst="ellipse">
            <a:avLst/>
          </a:prstGeom>
          <a:solidFill>
            <a:srgbClr val="1A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6499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Proof captured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0273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Arial"/>
              </a:rPr>
              <a:t>Real Snowflake output saved as artifacts; ~1,000 tests replay it in 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188720"/>
            <a:ext cx="3566160" cy="2697480"/>
          </a:xfrm>
          <a:prstGeom prst="roundRect">
            <a:avLst>
              <a:gd name="adj" fmla="val 4067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94960" y="13258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What CoCo CLI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737360"/>
            <a:ext cx="31546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4 source schemas, ~6M rows of messy data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10 dynamic tables that clean it incrementally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9 governed views, masking policies for 3 roles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1 semantic view: 19 metrics, 14 verified queries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1 Cortex Agent with a custom data_health tool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77 Data Metric Functions, alerts and cost caps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1E8E4E"/>
                </a:solidFill>
                <a:latin typeface="Arial"/>
              </a:rPr>
              <a:t>✓  </a:t>
            </a:r>
            <a:r>
              <a:rPr sz="1000" b="0" i="0">
                <a:solidFill>
                  <a:srgbClr val="334155"/>
                </a:solidFill>
                <a:latin typeface="Arial"/>
              </a:rPr>
              <a:t>Full replay into a new account with no hand 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114800"/>
            <a:ext cx="8321040" cy="502920"/>
          </a:xfrm>
          <a:prstGeom prst="roundRect">
            <a:avLst>
              <a:gd name="adj" fmla="val 21818"/>
            </a:avLst>
          </a:prstGeom>
          <a:solidFill>
            <a:srgbClr val="0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Two AI agents, one frozen contract: </a:t>
            </a:r>
            <a:r>
              <a:rPr sz="1000" b="0">
                <a:solidFill>
                  <a:srgbClr val="E3ECFB"/>
                </a:solidFill>
                <a:latin typeface="Arial"/>
              </a:rPr>
              <a:t>CoCo CLI built and ran everything in Snowflake; Claude Code built the app, tests and docs; a human coordinated both.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